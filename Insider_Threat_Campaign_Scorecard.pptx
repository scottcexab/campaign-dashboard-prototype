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spc="40">
                <a:solidFill>
                  <a:srgbClr val="FFFFFF"/>
                </a:solidFill>
                <a:latin typeface="Arial"/>
              </a:rPr>
              <a:t>INSIDER THREAT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8DE"/>
                </a:solidFill>
                <a:latin typeface="Arial"/>
              </a:rPr>
              <a:t>Executive Scorecard  ·  Jul 1 – Sep 30,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7432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C9BB4"/>
                </a:solidFill>
                <a:latin typeface="Arial"/>
              </a:rPr>
              <a:t>Prepared: Oct 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53035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C9BB4"/>
                </a:solidFill>
                <a:latin typeface="Arial"/>
              </a:rPr>
              <a:t>Marketing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34440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06D00"/>
                </a:solidFill>
                <a:latin typeface="Arial"/>
              </a:rPr>
              <a:t>●  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234440"/>
            <a:ext cx="6858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/>
              </a:rPr>
              <a:t>4 of 6 KPIs met or exceeded goal  ·  Pipeline +37% vs. target  ·  Opportunity creation trailing goal by 14%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SPEND VS.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$184.3K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of $250K 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003FCC"/>
                </a:solidFill>
                <a:latin typeface="Arial"/>
              </a:rPr>
              <a:t>ON TRACK  ·  73.7%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39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0545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LEADS GENERATED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3,842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3,500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110%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59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9975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MQLS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5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1,120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5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1,000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9975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112%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79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5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OPPORTUNITIES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5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5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250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54495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FDF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B57A00"/>
                </a:solidFill>
                <a:latin typeface="Arial"/>
              </a:rPr>
              <a:t>AT RISK  ·  86%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901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PIPELINE GENERATED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$4.8M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901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$3.5M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137%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0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0353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CAMPAIGN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353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551%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353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400%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0353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138%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38404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">
                <a:solidFill>
                  <a:srgbClr val="0A0A0A"/>
                </a:solidFill>
                <a:latin typeface="Arial"/>
              </a:rPr>
              <a:t>KEY TAKEAWAYS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87952"/>
            <a:ext cx="457200" cy="27432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425696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43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Lead and pipeline generation significantly exceeded targets (pipeline +37% vs. goal), driven by Paid Search, Email Nurture, and the new Physical Events channel.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19472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837176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Opportunity creation is trailing goal (214 vs. 250) despite strong top-of-funnel volume — signals an MQL-to-SQL handoff gap worth reviewing with Sales.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13248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33095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PathFactory content scoring directly influenced 148 opportunities (~$1.1M pipeline), validating the TOFU → MOFU → BOFU nurture model.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907024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82472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Campaign is under budget at 73.7% spend utilization with one month remaining — room to reinvest in top-performing tactics (Whitepaper, Webinar Series).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38404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">
                <a:solidFill>
                  <a:srgbClr val="0A0A0A"/>
                </a:solidFill>
                <a:latin typeface="Arial"/>
              </a:rPr>
              <a:t>TOP TACTICS BY PIPELINE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78040" y="4187952"/>
            <a:ext cx="457200" cy="27432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4407408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Gated Whitepaper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78240" y="4425696"/>
            <a:ext cx="3246120" cy="219456"/>
          </a:xfrm>
          <a:prstGeom prst="roundRect">
            <a:avLst>
              <a:gd name="adj" fmla="val 30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097511" y="4407408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$1.24M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78040" y="4791456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Webinar Series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8240" y="4809744"/>
            <a:ext cx="2565481" cy="219456"/>
          </a:xfrm>
          <a:prstGeom prst="roundRect">
            <a:avLst>
              <a:gd name="adj" fmla="val 30000"/>
            </a:avLst>
          </a:prstGeom>
          <a:solidFill>
            <a:srgbClr val="104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16873" y="4791456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$0.98M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5175504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ABM Direct Mail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78240" y="5193792"/>
            <a:ext cx="1989557" cy="219456"/>
          </a:xfrm>
          <a:prstGeom prst="roundRect">
            <a:avLst>
              <a:gd name="adj" fmla="val 30000"/>
            </a:avLst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40949" y="5175504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$0.76M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5559552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LinkedIn InMail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778240" y="5577840"/>
            <a:ext cx="1596881" cy="219456"/>
          </a:xfrm>
          <a:prstGeom prst="roundRect">
            <a:avLst>
              <a:gd name="adj" fmla="val 30000"/>
            </a:avLst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8273" y="55595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$0.61M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943600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Exec Roundtables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78240" y="5961888"/>
            <a:ext cx="1361276" cy="219456"/>
          </a:xfrm>
          <a:prstGeom prst="roundRect">
            <a:avLst>
              <a:gd name="adj" fmla="val 3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12668" y="5943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$0.52M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5836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6E6B"/>
                </a:solidFill>
                <a:latin typeface="Arial"/>
              </a:rPr>
              <a:t>Prototype scorecard — sample data for illustration only. Not a real Exabeam campaign report.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658368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6E6B"/>
                </a:solidFill>
                <a:latin typeface="Arial"/>
              </a:rPr>
              <a:t>Page 1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