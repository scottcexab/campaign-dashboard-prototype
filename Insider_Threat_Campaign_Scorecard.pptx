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Leads</c:v>
                </c:pt>
              </c:strCache>
            </c:strRef>
          </c:tx>
          <c:spPr>
            <a:ln w="28575">
              <a:solidFill>
                <a:srgbClr val="006BFF"/>
              </a:solidFill>
            </a:ln>
          </c:spPr>
          <c:marker>
            <c:size val="5"/>
            <c:spPr>
              <a:solidFill>
                <a:srgbClr val="006BFF"/>
              </a:solidFill>
            </c:spPr>
          </c:marker>
          <c:cat>
            <c:strRef>
              <c:f>Sheet1!$A$2:$A$14</c:f>
              <c:strCache>
                <c:ptCount val="13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  <c:pt idx="12">
                  <c:v>W13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140</c:v>
                </c:pt>
                <c:pt idx="1">
                  <c:v>205</c:v>
                </c:pt>
                <c:pt idx="2">
                  <c:v>260</c:v>
                </c:pt>
                <c:pt idx="3">
                  <c:v>310</c:v>
                </c:pt>
                <c:pt idx="4">
                  <c:v>295</c:v>
                </c:pt>
                <c:pt idx="5">
                  <c:v>340</c:v>
                </c:pt>
                <c:pt idx="6">
                  <c:v>380</c:v>
                </c:pt>
                <c:pt idx="7">
                  <c:v>410</c:v>
                </c:pt>
                <c:pt idx="8">
                  <c:v>455</c:v>
                </c:pt>
                <c:pt idx="9">
                  <c:v>420</c:v>
                </c:pt>
                <c:pt idx="10">
                  <c:v>470</c:v>
                </c:pt>
                <c:pt idx="11">
                  <c:v>510</c:v>
                </c:pt>
                <c:pt idx="12">
                  <c:v>490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09D00"/>
            </a:solidFill>
          </c:spPr>
          <c:cat>
            <c:strRef>
              <c:f>Sheet1!$A$2:$A$6</c:f>
              <c:strCache>
                <c:ptCount val="5"/>
                <c:pt idx="0">
                  <c:v>Inquiry</c:v>
                </c:pt>
                <c:pt idx="1">
                  <c:v>MQL</c:v>
                </c:pt>
                <c:pt idx="2">
                  <c:v>SQL</c:v>
                </c:pt>
                <c:pt idx="3">
                  <c:v>Opportunity</c:v>
                </c:pt>
                <c:pt idx="4">
                  <c:v>Won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3842</c:v>
                </c:pt>
                <c:pt idx="1">
                  <c:v>1120</c:v>
                </c:pt>
                <c:pt idx="2">
                  <c:v>412</c:v>
                </c:pt>
                <c:pt idx="3">
                  <c:v>214</c:v>
                </c:pt>
                <c:pt idx="4">
                  <c:v>38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0E0E0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E0E0E0"/>
            </a:solidFill>
          </a:ln>
        </c:spPr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 spc="40">
                <a:solidFill>
                  <a:srgbClr val="FFFFFF"/>
                </a:solidFill>
                <a:latin typeface="Arial"/>
              </a:rPr>
              <a:t>INSIDER THREAT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8686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9C8DE"/>
                </a:solidFill>
                <a:latin typeface="Arial"/>
              </a:rPr>
              <a:t>Executive Scorecard  ·  Jul 1 – Sep 30,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274320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C9BB4"/>
                </a:solidFill>
                <a:latin typeface="Arial"/>
              </a:rPr>
              <a:t>Prepared: Oct 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530352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C9BB4"/>
                </a:solidFill>
                <a:latin typeface="Arial"/>
              </a:rPr>
              <a:t>Marketing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83112" cy="566928"/>
          </a:xfrm>
          <a:prstGeom prst="roundRect">
            <a:avLst>
              <a:gd name="adj" fmla="val 25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3840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06D00"/>
                </a:solidFill>
                <a:latin typeface="Arial"/>
              </a:rPr>
              <a:t>●  ON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34440"/>
            <a:ext cx="6858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A0A0A"/>
                </a:solidFill>
                <a:latin typeface="Arial"/>
              </a:rPr>
              <a:t>4 of 6 KPIs met or exceeded goal  ·  Pipeline +37% vs. target  ·  Opportunity creation trailing goal by 14%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1764792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2093976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">
                <a:solidFill>
                  <a:srgbClr val="706E6B"/>
                </a:solidFill>
                <a:latin typeface="Arial"/>
              </a:rPr>
              <a:t>SPEND VS. BUDGET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2386584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A0A0A"/>
                </a:solidFill>
                <a:latin typeface="Arial"/>
              </a:rPr>
              <a:t>$184.3K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" y="286207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6E6B"/>
                </a:solidFill>
                <a:latin typeface="Arial"/>
              </a:rPr>
              <a:t>of $250K budget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" y="322783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003FCC"/>
                </a:solidFill>
                <a:latin typeface="Arial"/>
              </a:rPr>
              <a:t>ON TRACK  ·  73.7%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39" y="1965960"/>
            <a:ext cx="1764792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5456" y="2093976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">
                <a:solidFill>
                  <a:srgbClr val="706E6B"/>
                </a:solidFill>
                <a:latin typeface="Arial"/>
              </a:rPr>
              <a:t>LEADS GENERATED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2386584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A0A0A"/>
                </a:solidFill>
                <a:latin typeface="Arial"/>
              </a:rPr>
              <a:t>3,842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05456" y="286207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6E6B"/>
                </a:solidFill>
                <a:latin typeface="Arial"/>
              </a:rPr>
              <a:t>Goal: 3,500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505456" y="322783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06D00"/>
                </a:solidFill>
                <a:latin typeface="Arial"/>
              </a:rPr>
              <a:t>EXCEEDED  ·  110%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59" y="1965960"/>
            <a:ext cx="1764792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5" y="2093976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">
                <a:solidFill>
                  <a:srgbClr val="706E6B"/>
                </a:solidFill>
                <a:latin typeface="Arial"/>
              </a:rPr>
              <a:t>MQLS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5" y="2386584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A0A0A"/>
                </a:solidFill>
                <a:latin typeface="Arial"/>
              </a:rPr>
              <a:t>1,120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5" y="286207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6E6B"/>
                </a:solidFill>
                <a:latin typeface="Arial"/>
              </a:rPr>
              <a:t>Goal: 1,000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9975" y="322783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06D00"/>
                </a:solidFill>
                <a:latin typeface="Arial"/>
              </a:rPr>
              <a:t>EXCEEDED  ·  112%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79" y="1965960"/>
            <a:ext cx="1764792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5" y="2093976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">
                <a:solidFill>
                  <a:srgbClr val="706E6B"/>
                </a:solidFill>
                <a:latin typeface="Arial"/>
              </a:rPr>
              <a:t>OPPORTUNITIES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5" y="2386584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A0A0A"/>
                </a:solidFill>
                <a:latin typeface="Arial"/>
              </a:rPr>
              <a:t>214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5" y="286207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6E6B"/>
                </a:solidFill>
                <a:latin typeface="Arial"/>
              </a:rPr>
              <a:t>Goal: 250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54495" y="322783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FDF2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B57A00"/>
                </a:solidFill>
                <a:latin typeface="Arial"/>
              </a:rPr>
              <a:t>AT RISK  ·  86%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1965960"/>
            <a:ext cx="1764792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29016" y="2093976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">
                <a:solidFill>
                  <a:srgbClr val="706E6B"/>
                </a:solidFill>
                <a:latin typeface="Arial"/>
              </a:rPr>
              <a:t>PIPELINE GENERATED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29016" y="2386584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A0A0A"/>
                </a:solidFill>
                <a:latin typeface="Arial"/>
              </a:rPr>
              <a:t>$4.8M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9016" y="286207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6E6B"/>
                </a:solidFill>
                <a:latin typeface="Arial"/>
              </a:rPr>
              <a:t>Goal: $3.5M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9016" y="322783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06D00"/>
                </a:solidFill>
                <a:latin typeface="Arial"/>
              </a:rPr>
              <a:t>EXCEEDED  ·  137%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75520" y="1965960"/>
            <a:ext cx="1764792" cy="178308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03536" y="2093976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">
                <a:solidFill>
                  <a:srgbClr val="706E6B"/>
                </a:solidFill>
                <a:latin typeface="Arial"/>
              </a:rPr>
              <a:t>CAMPAIGN ROI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03536" y="2386584"/>
            <a:ext cx="1508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A0A0A"/>
                </a:solidFill>
                <a:latin typeface="Arial"/>
              </a:rPr>
              <a:t>551%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3536" y="286207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6E6B"/>
                </a:solidFill>
                <a:latin typeface="Arial"/>
              </a:rPr>
              <a:t>Goal: 400%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003536" y="3227832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A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06D00"/>
                </a:solidFill>
                <a:latin typeface="Arial"/>
              </a:rPr>
              <a:t>EXCEEDED  ·  138%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3840480"/>
            <a:ext cx="6309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">
                <a:solidFill>
                  <a:srgbClr val="0A0A0A"/>
                </a:solidFill>
                <a:latin typeface="Arial"/>
              </a:rPr>
              <a:t>KEY TAKEAWAYS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187952"/>
            <a:ext cx="457200" cy="27432"/>
          </a:xfrm>
          <a:prstGeom prst="rect">
            <a:avLst/>
          </a:prstGeom>
          <a:solidFill>
            <a:srgbClr val="00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4425696"/>
            <a:ext cx="82296" cy="82296"/>
          </a:xfrm>
          <a:prstGeom prst="rect">
            <a:avLst/>
          </a:prstGeom>
          <a:solidFill>
            <a:srgbClr val="00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434340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E3E3C"/>
                </a:solidFill>
                <a:latin typeface="Arial"/>
              </a:rPr>
              <a:t>Lead and pipeline generation significantly exceeded targets (pipeline +37% vs. goal), driven by Paid Search, Email Nurture, and the new Physical Events channel.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919472"/>
            <a:ext cx="82296" cy="82296"/>
          </a:xfrm>
          <a:prstGeom prst="rect">
            <a:avLst/>
          </a:prstGeom>
          <a:solidFill>
            <a:srgbClr val="00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837176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E3E3C"/>
                </a:solidFill>
                <a:latin typeface="Arial"/>
              </a:rPr>
              <a:t>Opportunity creation is trailing goal (214 vs. 250) despite strong top-of-funnel volume — signals an MQL-to-SQL handoff gap worth reviewing with Sales.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5413248"/>
            <a:ext cx="82296" cy="82296"/>
          </a:xfrm>
          <a:prstGeom prst="rect">
            <a:avLst/>
          </a:prstGeom>
          <a:solidFill>
            <a:srgbClr val="00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330952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E3E3C"/>
                </a:solidFill>
                <a:latin typeface="Arial"/>
              </a:rPr>
              <a:t>PathFactory content scoring directly influenced 148 opportunities (~$1.1M pipeline), validating the TOFU → MOFU → BOFU nurture model.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907024"/>
            <a:ext cx="82296" cy="82296"/>
          </a:xfrm>
          <a:prstGeom prst="rect">
            <a:avLst/>
          </a:prstGeom>
          <a:solidFill>
            <a:srgbClr val="00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824728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E3E3C"/>
                </a:solidFill>
                <a:latin typeface="Arial"/>
              </a:rPr>
              <a:t>Campaign is under budget at 73.7% spend utilization with one month remaining — room to reinvest in top-performing tactics (Whitepaper, Webinar Series).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3840480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">
                <a:solidFill>
                  <a:srgbClr val="0A0A0A"/>
                </a:solidFill>
                <a:latin typeface="Arial"/>
              </a:rPr>
              <a:t>TOP TACTICS BY PIPELINE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78040" y="4187952"/>
            <a:ext cx="457200" cy="27432"/>
          </a:xfrm>
          <a:prstGeom prst="rect">
            <a:avLst/>
          </a:prstGeom>
          <a:solidFill>
            <a:srgbClr val="00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78040" y="4407408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E3E3C"/>
                </a:solidFill>
                <a:latin typeface="Arial"/>
              </a:rPr>
              <a:t>Gated Whitepaper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78240" y="4425696"/>
            <a:ext cx="3246120" cy="219456"/>
          </a:xfrm>
          <a:prstGeom prst="roundRect">
            <a:avLst>
              <a:gd name="adj" fmla="val 30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097511" y="4407408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A0A0A"/>
                </a:solidFill>
                <a:latin typeface="Arial"/>
              </a:rPr>
              <a:t>$1.24M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4791456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E3E3C"/>
                </a:solidFill>
                <a:latin typeface="Arial"/>
              </a:rPr>
              <a:t>Webinar Series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78240" y="4809744"/>
            <a:ext cx="2565481" cy="219456"/>
          </a:xfrm>
          <a:prstGeom prst="roundRect">
            <a:avLst>
              <a:gd name="adj" fmla="val 30000"/>
            </a:avLst>
          </a:prstGeom>
          <a:solidFill>
            <a:srgbClr val="1042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16873" y="479145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A0A0A"/>
                </a:solidFill>
                <a:latin typeface="Arial"/>
              </a:rPr>
              <a:t>$0.98M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78040" y="5175504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E3E3C"/>
                </a:solidFill>
                <a:latin typeface="Arial"/>
              </a:rPr>
              <a:t>ABM Direct Mail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778240" y="5193792"/>
            <a:ext cx="1989557" cy="219456"/>
          </a:xfrm>
          <a:prstGeom prst="roundRect">
            <a:avLst>
              <a:gd name="adj" fmla="val 30000"/>
            </a:avLst>
          </a:prstGeom>
          <a:solidFill>
            <a:srgbClr val="184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840949" y="5175504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A0A0A"/>
                </a:solidFill>
                <a:latin typeface="Arial"/>
              </a:rPr>
              <a:t>$0.76M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78040" y="5559552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E3E3C"/>
                </a:solidFill>
                <a:latin typeface="Arial"/>
              </a:rPr>
              <a:t>LinkedIn InMail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778240" y="5577840"/>
            <a:ext cx="1596881" cy="219456"/>
          </a:xfrm>
          <a:prstGeom prst="roundRect">
            <a:avLst>
              <a:gd name="adj" fmla="val 30000"/>
            </a:avLst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448273" y="5559552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A0A0A"/>
                </a:solidFill>
                <a:latin typeface="Arial"/>
              </a:rPr>
              <a:t>$0.61M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78040" y="5943600"/>
            <a:ext cx="15087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E3E3C"/>
                </a:solidFill>
                <a:latin typeface="Arial"/>
              </a:rPr>
              <a:t>Exec Roundtables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778240" y="5961888"/>
            <a:ext cx="1361276" cy="219456"/>
          </a:xfrm>
          <a:prstGeom prst="roundRect">
            <a:avLst>
              <a:gd name="adj" fmla="val 3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12668" y="5943600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A0A0A"/>
                </a:solidFill>
                <a:latin typeface="Arial"/>
              </a:rPr>
              <a:t>$0.52M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706E6B"/>
                </a:solidFill>
                <a:latin typeface="Arial"/>
              </a:rPr>
              <a:t>Prototype scorecard — sample data for illustration only. Not a real Exabeam campaign report.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6583680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6E6B"/>
                </a:solidFill>
                <a:latin typeface="Arial"/>
              </a:rPr>
              <a:t>Page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 spc="30">
                <a:solidFill>
                  <a:srgbClr val="FFFFFF"/>
                </a:solidFill>
                <a:latin typeface="Arial"/>
              </a:rPr>
              <a:t>INSIDER THREAT CAMPAIGN — PERFORMANCE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C9C8DE"/>
                </a:solidFill>
                <a:latin typeface="Arial"/>
              </a:rPr>
              <a:t>Source: Campaign Dashboard  ·  Data as of Oct 1,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32688"/>
            <a:ext cx="2514600" cy="12344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42416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0">
                <a:solidFill>
                  <a:srgbClr val="706E6B"/>
                </a:solidFill>
                <a:latin typeface="Arial"/>
              </a:rPr>
              <a:t>PLAN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335024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A0A0A"/>
                </a:solidFill>
                <a:latin typeface="Arial"/>
              </a:rPr>
              <a:t>Avg Deal Size: ~$22.4K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91056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A0A0A"/>
                </a:solidFill>
                <a:latin typeface="Arial"/>
              </a:rPr>
              <a:t>Lead → MQL: 29.2%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47088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A0A0A"/>
                </a:solidFill>
                <a:latin typeface="Arial"/>
              </a:rPr>
              <a:t>MQL → Opportunity: 19.1%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914400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0">
                <a:solidFill>
                  <a:srgbClr val="706E6B"/>
                </a:solidFill>
                <a:latin typeface="Arial"/>
              </a:rPr>
              <a:t>PLAN TARGETS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063240" y="1115568"/>
          <a:ext cx="539496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280160"/>
                <a:gridCol w="1280160"/>
                <a:gridCol w="1280160"/>
              </a:tblGrid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T="38100" marB="38100" marL="76200" marR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Goal</a:t>
                      </a:r>
                    </a:p>
                  </a:txBody>
                  <a:tcPr marT="38100" marB="38100" marL="76200" marR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Actual</a:t>
                      </a:r>
                    </a:p>
                  </a:txBody>
                  <a:tcPr marT="38100" marB="38100" marL="76200" marR="76200" anchor="ctr"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</a:rPr>
                        <a:t>% of Goal</a:t>
                      </a:r>
                    </a:p>
                  </a:txBody>
                  <a:tcPr marT="38100" marB="38100" marL="76200" marR="76200" anchor="ctr">
                    <a:solidFill>
                      <a:srgbClr val="0A0A0A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A0A0A"/>
                          </a:solidFill>
                          <a:latin typeface="Arial"/>
                        </a:rPr>
                        <a:t>Leads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A0A0A"/>
                          </a:solidFill>
                          <a:latin typeface="Arial"/>
                        </a:rPr>
                        <a:t>3,500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A0A0A"/>
                          </a:solidFill>
                          <a:latin typeface="Arial"/>
                        </a:rPr>
                        <a:t>3,842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A0A0A"/>
                          </a:solidFill>
                          <a:latin typeface="Arial"/>
                        </a:rPr>
                        <a:t>110%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A0A0A"/>
                          </a:solidFill>
                          <a:latin typeface="Arial"/>
                        </a:rPr>
                        <a:t>MQLs</a:t>
                      </a:r>
                    </a:p>
                  </a:txBody>
                  <a:tcPr marT="38100" marB="38100" marL="76200" marR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A0A0A"/>
                          </a:solidFill>
                          <a:latin typeface="Arial"/>
                        </a:rPr>
                        <a:t>1,000</a:t>
                      </a:r>
                    </a:p>
                  </a:txBody>
                  <a:tcPr marT="38100" marB="38100" marL="76200" marR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A0A0A"/>
                          </a:solidFill>
                          <a:latin typeface="Arial"/>
                        </a:rPr>
                        <a:t>1,120</a:t>
                      </a:r>
                    </a:p>
                  </a:txBody>
                  <a:tcPr marT="38100" marB="38100" marL="76200" marR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A0A0A"/>
                          </a:solidFill>
                          <a:latin typeface="Arial"/>
                        </a:rPr>
                        <a:t>112%</a:t>
                      </a:r>
                    </a:p>
                  </a:txBody>
                  <a:tcPr marT="38100" marB="38100" marL="76200" marR="76200" anchor="ctr">
                    <a:solidFill>
                      <a:srgbClr val="F5F5F5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A0A0A"/>
                          </a:solidFill>
                          <a:latin typeface="Arial"/>
                        </a:rPr>
                        <a:t>Opportunities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A0A0A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A0A0A"/>
                          </a:solidFill>
                          <a:latin typeface="Arial"/>
                        </a:rPr>
                        <a:t>214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A0A0A"/>
                          </a:solidFill>
                          <a:latin typeface="Arial"/>
                        </a:rPr>
                        <a:t>86%</a:t>
                      </a:r>
                    </a:p>
                  </a:txBody>
                  <a:tcPr marT="38100" marB="38100" marL="76200" marR="76200" anchor="ctr"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A0A0A"/>
                          </a:solidFill>
                          <a:latin typeface="Arial"/>
                        </a:rPr>
                        <a:t>Pipeline</a:t>
                      </a:r>
                    </a:p>
                  </a:txBody>
                  <a:tcPr marT="38100" marB="38100" marL="76200" marR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A0A0A"/>
                          </a:solidFill>
                          <a:latin typeface="Arial"/>
                        </a:rPr>
                        <a:t>$3.5M</a:t>
                      </a:r>
                    </a:p>
                  </a:txBody>
                  <a:tcPr marT="38100" marB="38100" marL="76200" marR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A0A0A"/>
                          </a:solidFill>
                          <a:latin typeface="Arial"/>
                        </a:rPr>
                        <a:t>$4.8M</a:t>
                      </a:r>
                    </a:p>
                  </a:txBody>
                  <a:tcPr marT="38100" marB="38100" marL="76200" marR="7620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0A0A0A"/>
                          </a:solidFill>
                          <a:latin typeface="Arial"/>
                        </a:rPr>
                        <a:t>137%</a:t>
                      </a:r>
                    </a:p>
                  </a:txBody>
                  <a:tcPr marT="38100" marB="38100" marL="76200" marR="7620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732520" y="932688"/>
            <a:ext cx="3090672" cy="1234440"/>
          </a:xfrm>
          <a:prstGeom prst="roundRect">
            <a:avLst>
              <a:gd name="adj" fmla="val 6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97112" y="1042416"/>
            <a:ext cx="2743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0">
                <a:solidFill>
                  <a:srgbClr val="706E6B"/>
                </a:solidFill>
                <a:latin typeface="Arial"/>
              </a:rPr>
              <a:t>TRENDING KEY</a:t>
            </a:r>
          </a:p>
        </p:txBody>
      </p:sp>
      <p:sp>
        <p:nvSpPr>
          <p:cNvPr id="15" name="Oval 14"/>
          <p:cNvSpPr/>
          <p:nvPr/>
        </p:nvSpPr>
        <p:spPr>
          <a:xfrm>
            <a:off x="8897112" y="1380744"/>
            <a:ext cx="128016" cy="128016"/>
          </a:xfrm>
          <a:prstGeom prst="ellipse">
            <a:avLst/>
          </a:prstGeom>
          <a:solidFill>
            <a:srgbClr val="106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353312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A0A0A"/>
                </a:solidFill>
                <a:latin typeface="Arial"/>
              </a:rPr>
              <a:t>On Plan</a:t>
            </a:r>
          </a:p>
        </p:txBody>
      </p:sp>
      <p:sp>
        <p:nvSpPr>
          <p:cNvPr id="17" name="Oval 16"/>
          <p:cNvSpPr/>
          <p:nvPr/>
        </p:nvSpPr>
        <p:spPr>
          <a:xfrm>
            <a:off x="8897112" y="1645920"/>
            <a:ext cx="128016" cy="128016"/>
          </a:xfrm>
          <a:prstGeom prst="ellipse">
            <a:avLst/>
          </a:prstGeom>
          <a:solidFill>
            <a:srgbClr val="B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16568" y="1618488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A0A0A"/>
                </a:solidFill>
                <a:latin typeface="Arial"/>
              </a:rPr>
              <a:t>Needs Attention</a:t>
            </a:r>
          </a:p>
        </p:txBody>
      </p:sp>
      <p:sp>
        <p:nvSpPr>
          <p:cNvPr id="19" name="Oval 18"/>
          <p:cNvSpPr/>
          <p:nvPr/>
        </p:nvSpPr>
        <p:spPr>
          <a:xfrm>
            <a:off x="8897112" y="1911095"/>
            <a:ext cx="128016" cy="128016"/>
          </a:xfrm>
          <a:prstGeom prst="ellipse">
            <a:avLst/>
          </a:prstGeom>
          <a:solidFill>
            <a:srgbClr val="C2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16568" y="1883664"/>
            <a:ext cx="2560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A0A0A"/>
                </a:solidFill>
                <a:latin typeface="Arial"/>
              </a:rPr>
              <a:t>Under Performing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2331720"/>
            <a:ext cx="3710330" cy="3977639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331720"/>
            <a:ext cx="3710330" cy="384048"/>
          </a:xfrm>
          <a:prstGeom prst="rect">
            <a:avLst/>
          </a:prstGeom>
          <a:solidFill>
            <a:srgbClr val="00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2331720"/>
            <a:ext cx="341772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5">
                <a:solidFill>
                  <a:srgbClr val="FFFFFF"/>
                </a:solidFill>
                <a:latin typeface="Arial"/>
              </a:rPr>
              <a:t>LEADS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" y="2834639"/>
            <a:ext cx="34177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A0A0A"/>
                </a:solidFill>
                <a:latin typeface="Arial"/>
              </a:rPr>
              <a:t>Total Leads: 3,842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3090672"/>
            <a:ext cx="34177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06E6B"/>
                </a:solidFill>
                <a:latin typeface="Arial"/>
              </a:rPr>
              <a:t>Avg Weekly Growth: +9.1%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3429000"/>
          <a:ext cx="352745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12064" y="5532120"/>
            <a:ext cx="341772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">
                <a:solidFill>
                  <a:srgbClr val="706E6B"/>
                </a:solidFill>
                <a:latin typeface="Arial"/>
              </a:rPr>
              <a:t>TOP CHANNEL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" y="5760720"/>
            <a:ext cx="341772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A0A0A"/>
                </a:solidFill>
                <a:latin typeface="Arial"/>
              </a:rPr>
              <a:t>Paid Search — 1,040 leads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40682" y="2331720"/>
            <a:ext cx="3710330" cy="3977639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40682" y="2331720"/>
            <a:ext cx="3710330" cy="384048"/>
          </a:xfrm>
          <a:prstGeom prst="rect">
            <a:avLst/>
          </a:prstGeom>
          <a:solidFill>
            <a:srgbClr val="009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6986" y="2331720"/>
            <a:ext cx="341772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5">
                <a:solidFill>
                  <a:srgbClr val="FFFFFF"/>
                </a:solidFill>
                <a:latin typeface="Arial"/>
              </a:rPr>
              <a:t>OPPORTUNITY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6986" y="2834639"/>
            <a:ext cx="341772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0A0A0A"/>
                </a:solidFill>
                <a:latin typeface="Arial"/>
              </a:rPr>
              <a:t>YTD/QTD Pipeline: $4.8M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6986" y="3090672"/>
            <a:ext cx="341772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06E6B"/>
                </a:solidFill>
                <a:latin typeface="Arial"/>
              </a:rPr>
              <a:t>Avg Sales Cycle: 46 days</a:t>
            </a:r>
          </a:p>
        </p:txBody>
      </p:sp>
      <p:graphicFrame>
        <p:nvGraphicFramePr>
          <p:cNvPr id="34" name="Chart 33"/>
          <p:cNvGraphicFramePr>
            <a:graphicFrameLocks noGrp="1"/>
          </p:cNvGraphicFramePr>
          <p:nvPr/>
        </p:nvGraphicFramePr>
        <p:xfrm>
          <a:off x="4332122" y="3429000"/>
          <a:ext cx="3527450" cy="1965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4386986" y="5532120"/>
            <a:ext cx="341772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 spc="10">
                <a:solidFill>
                  <a:srgbClr val="706E6B"/>
                </a:solidFill>
                <a:latin typeface="Arial"/>
              </a:rPr>
              <a:t>CLOSED WON / LOST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6986" y="5760720"/>
            <a:ext cx="341772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0A0A0A"/>
                </a:solidFill>
                <a:latin typeface="Arial"/>
              </a:rPr>
              <a:t>38 Won  /  14 Lost  (73% win rate)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15604" y="2331720"/>
            <a:ext cx="3710330" cy="3977639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115604" y="2331720"/>
            <a:ext cx="3710330" cy="384048"/>
          </a:xfrm>
          <a:prstGeom prst="rect">
            <a:avLst/>
          </a:prstGeom>
          <a:solidFill>
            <a:srgbClr val="8D0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61908" y="2331720"/>
            <a:ext cx="341772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 spc="15">
                <a:solidFill>
                  <a:srgbClr val="FFFFFF"/>
                </a:solidFill>
                <a:latin typeface="Arial"/>
              </a:rPr>
              <a:t>CONVERSION TRENDS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61908" y="2834639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6E6B"/>
                </a:solidFill>
                <a:latin typeface="Arial"/>
              </a:rPr>
              <a:t>MQLs MoM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1908" y="3054096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06D00"/>
                </a:solidFill>
                <a:latin typeface="Arial"/>
              </a:rPr>
              <a:t>+9.7%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70770" y="2852927"/>
            <a:ext cx="10972" cy="4572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17074" y="2834639"/>
            <a:ext cx="1554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706E6B"/>
                </a:solidFill>
                <a:latin typeface="Arial"/>
              </a:rPr>
              <a:t>Opps MoM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17074" y="3054096"/>
            <a:ext cx="1554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B57A00"/>
                </a:solidFill>
                <a:latin typeface="Arial"/>
              </a:rPr>
              <a:t>-3.1%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61908" y="3474720"/>
            <a:ext cx="341772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0">
                <a:solidFill>
                  <a:srgbClr val="706E6B"/>
                </a:solidFill>
                <a:latin typeface="Arial"/>
              </a:rPr>
              <a:t>KEY OPPORTUNITIES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61908" y="3721608"/>
            <a:ext cx="3417722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89924" y="3803904"/>
            <a:ext cx="28873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A0A0A"/>
                </a:solidFill>
                <a:latin typeface="Arial"/>
              </a:rPr>
              <a:t>Global Bank Co.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11535" y="3803904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106D00"/>
                </a:solidFill>
                <a:latin typeface="Arial"/>
              </a:rPr>
              <a:t>$340K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61908" y="4197096"/>
            <a:ext cx="3417722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89924" y="4279392"/>
            <a:ext cx="28873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A0A0A"/>
                </a:solidFill>
                <a:latin typeface="Arial"/>
              </a:rPr>
              <a:t>Meridian Health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11535" y="4279392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106D00"/>
                </a:solidFill>
                <a:latin typeface="Arial"/>
              </a:rPr>
              <a:t>$280K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61908" y="4672583"/>
            <a:ext cx="3417722" cy="4023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89924" y="4754879"/>
            <a:ext cx="288737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A0A0A"/>
                </a:solidFill>
                <a:latin typeface="Arial"/>
              </a:rPr>
              <a:t>Northline Retail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11535" y="4754879"/>
            <a:ext cx="685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106D00"/>
                </a:solidFill>
                <a:latin typeface="Arial"/>
              </a:rPr>
              <a:t>$210K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61908" y="5202935"/>
            <a:ext cx="341772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0">
                <a:solidFill>
                  <a:srgbClr val="706E6B"/>
                </a:solidFill>
                <a:latin typeface="Arial"/>
              </a:rPr>
              <a:t>TOP REGIONS BY PIPELINE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61908" y="5440679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E3E3C"/>
                </a:solidFill>
                <a:latin typeface="Arial"/>
              </a:rPr>
              <a:t>North America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222028" y="5458967"/>
            <a:ext cx="1972970" cy="164592"/>
          </a:xfrm>
          <a:prstGeom prst="roundRect">
            <a:avLst>
              <a:gd name="adj" fmla="val 30000"/>
            </a:avLst>
          </a:prstGeom>
          <a:solidFill>
            <a:srgbClr val="00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249863" y="5431536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A0A0A"/>
                </a:solidFill>
                <a:latin typeface="Arial"/>
              </a:rPr>
              <a:t>$2.16M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1908" y="5714999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E3E3C"/>
                </a:solidFill>
                <a:latin typeface="Arial"/>
              </a:rPr>
              <a:t>EMEA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222028" y="5733287"/>
            <a:ext cx="833031" cy="164592"/>
          </a:xfrm>
          <a:prstGeom prst="roundRect">
            <a:avLst>
              <a:gd name="adj" fmla="val 30000"/>
            </a:avLst>
          </a:prstGeom>
          <a:solidFill>
            <a:srgbClr val="009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109924" y="5705855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A0A0A"/>
                </a:solidFill>
                <a:latin typeface="Arial"/>
              </a:rPr>
              <a:t>$0.91M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61908" y="5989319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E3E3C"/>
                </a:solidFill>
                <a:latin typeface="Arial"/>
              </a:rPr>
              <a:t>APAC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22028" y="6007607"/>
            <a:ext cx="526125" cy="164592"/>
          </a:xfrm>
          <a:prstGeom prst="roundRect">
            <a:avLst>
              <a:gd name="adj" fmla="val 30000"/>
            </a:avLst>
          </a:prstGeom>
          <a:solidFill>
            <a:srgbClr val="B5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803018" y="5980175"/>
            <a:ext cx="822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0A0A0A"/>
                </a:solidFill>
                <a:latin typeface="Arial"/>
              </a:rPr>
              <a:t>$0.58M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2920" y="6583680"/>
            <a:ext cx="8229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706E6B"/>
                </a:solidFill>
                <a:latin typeface="Arial"/>
              </a:rPr>
              <a:t>Prototype tracking slide — sample data for illustration only. Layout structure adapted from an internal template; no external branding or content included.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01200" y="6583680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6E6B"/>
                </a:solidFill>
                <a:latin typeface="Arial"/>
              </a:rPr>
              <a:t>Page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